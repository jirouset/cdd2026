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4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otny Vit" userId="385cc110-d84e-4402-a595-6881787047ed" providerId="ADAL" clId="{B21C557F-AC2B-4147-B774-E502E7ECCB2B}"/>
    <pc:docChg chg="undo custSel addSld modSld">
      <pc:chgData name="Novotny Vit" userId="385cc110-d84e-4402-a595-6881787047ed" providerId="ADAL" clId="{B21C557F-AC2B-4147-B774-E502E7ECCB2B}" dt="2026-05-21T09:55:11.305" v="567" actId="1076"/>
      <pc:docMkLst>
        <pc:docMk/>
      </pc:docMkLst>
      <pc:sldChg chg="addSp modSp new mod">
        <pc:chgData name="Novotny Vit" userId="385cc110-d84e-4402-a595-6881787047ed" providerId="ADAL" clId="{B21C557F-AC2B-4147-B774-E502E7ECCB2B}" dt="2026-05-21T09:47:06.546" v="193" actId="1076"/>
        <pc:sldMkLst>
          <pc:docMk/>
          <pc:sldMk cId="3589864453" sldId="261"/>
        </pc:sldMkLst>
        <pc:spChg chg="mod">
          <ac:chgData name="Novotny Vit" userId="385cc110-d84e-4402-a595-6881787047ed" providerId="ADAL" clId="{B21C557F-AC2B-4147-B774-E502E7ECCB2B}" dt="2026-05-21T09:42:56.154" v="33" actId="20577"/>
          <ac:spMkLst>
            <pc:docMk/>
            <pc:sldMk cId="3589864453" sldId="261"/>
            <ac:spMk id="2" creationId="{9BC0CDEC-4327-1287-506F-3D50F560C447}"/>
          </ac:spMkLst>
        </pc:spChg>
        <pc:spChg chg="mod">
          <ac:chgData name="Novotny Vit" userId="385cc110-d84e-4402-a595-6881787047ed" providerId="ADAL" clId="{B21C557F-AC2B-4147-B774-E502E7ECCB2B}" dt="2026-05-21T09:44:57.304" v="187" actId="20577"/>
          <ac:spMkLst>
            <pc:docMk/>
            <pc:sldMk cId="3589864453" sldId="261"/>
            <ac:spMk id="3" creationId="{3E07800A-BE5D-4CA8-C201-6232DBB419F6}"/>
          </ac:spMkLst>
        </pc:spChg>
        <pc:picChg chg="add mod">
          <ac:chgData name="Novotny Vit" userId="385cc110-d84e-4402-a595-6881787047ed" providerId="ADAL" clId="{B21C557F-AC2B-4147-B774-E502E7ECCB2B}" dt="2026-05-21T09:46:19.977" v="189" actId="1076"/>
          <ac:picMkLst>
            <pc:docMk/>
            <pc:sldMk cId="3589864453" sldId="261"/>
            <ac:picMk id="5" creationId="{93AEFFF1-8F73-BC23-4A62-D7D01D3025DD}"/>
          </ac:picMkLst>
        </pc:picChg>
        <pc:picChg chg="add mod">
          <ac:chgData name="Novotny Vit" userId="385cc110-d84e-4402-a595-6881787047ed" providerId="ADAL" clId="{B21C557F-AC2B-4147-B774-E502E7ECCB2B}" dt="2026-05-21T09:46:44.626" v="191" actId="1076"/>
          <ac:picMkLst>
            <pc:docMk/>
            <pc:sldMk cId="3589864453" sldId="261"/>
            <ac:picMk id="7" creationId="{9C91AF7A-A764-4CFA-0D64-FDD820916772}"/>
          </ac:picMkLst>
        </pc:picChg>
        <pc:picChg chg="add mod">
          <ac:chgData name="Novotny Vit" userId="385cc110-d84e-4402-a595-6881787047ed" providerId="ADAL" clId="{B21C557F-AC2B-4147-B774-E502E7ECCB2B}" dt="2026-05-21T09:47:06.546" v="193" actId="1076"/>
          <ac:picMkLst>
            <pc:docMk/>
            <pc:sldMk cId="3589864453" sldId="261"/>
            <ac:picMk id="9" creationId="{3FE01E54-3FA3-9205-B7C6-C0634CFA8967}"/>
          </ac:picMkLst>
        </pc:picChg>
      </pc:sldChg>
      <pc:sldChg chg="addSp delSp modSp new mod">
        <pc:chgData name="Novotny Vit" userId="385cc110-d84e-4402-a595-6881787047ed" providerId="ADAL" clId="{B21C557F-AC2B-4147-B774-E502E7ECCB2B}" dt="2026-05-21T09:52:32.364" v="444" actId="22"/>
        <pc:sldMkLst>
          <pc:docMk/>
          <pc:sldMk cId="2480566404" sldId="262"/>
        </pc:sldMkLst>
        <pc:spChg chg="mod">
          <ac:chgData name="Novotny Vit" userId="385cc110-d84e-4402-a595-6881787047ed" providerId="ADAL" clId="{B21C557F-AC2B-4147-B774-E502E7ECCB2B}" dt="2026-05-21T09:47:56.855" v="219" actId="20577"/>
          <ac:spMkLst>
            <pc:docMk/>
            <pc:sldMk cId="2480566404" sldId="262"/>
            <ac:spMk id="2" creationId="{8C7DA8F2-B753-820E-6D79-BA041BBB7F98}"/>
          </ac:spMkLst>
        </pc:spChg>
        <pc:spChg chg="mod">
          <ac:chgData name="Novotny Vit" userId="385cc110-d84e-4402-a595-6881787047ed" providerId="ADAL" clId="{B21C557F-AC2B-4147-B774-E502E7ECCB2B}" dt="2026-05-21T09:51:56.818" v="442" actId="20577"/>
          <ac:spMkLst>
            <pc:docMk/>
            <pc:sldMk cId="2480566404" sldId="262"/>
            <ac:spMk id="3" creationId="{CE2A8111-5109-DFA5-C5A4-A9B312EDBFAB}"/>
          </ac:spMkLst>
        </pc:spChg>
        <pc:picChg chg="add del">
          <ac:chgData name="Novotny Vit" userId="385cc110-d84e-4402-a595-6881787047ed" providerId="ADAL" clId="{B21C557F-AC2B-4147-B774-E502E7ECCB2B}" dt="2026-05-21T09:52:32.364" v="444" actId="22"/>
          <ac:picMkLst>
            <pc:docMk/>
            <pc:sldMk cId="2480566404" sldId="262"/>
            <ac:picMk id="5" creationId="{24C8F8AA-52CC-1DE1-E512-0072899BA6B6}"/>
          </ac:picMkLst>
        </pc:picChg>
      </pc:sldChg>
      <pc:sldChg chg="addSp modSp new mod">
        <pc:chgData name="Novotny Vit" userId="385cc110-d84e-4402-a595-6881787047ed" providerId="ADAL" clId="{B21C557F-AC2B-4147-B774-E502E7ECCB2B}" dt="2026-05-21T09:54:20.883" v="562" actId="1038"/>
        <pc:sldMkLst>
          <pc:docMk/>
          <pc:sldMk cId="1868382291" sldId="263"/>
        </pc:sldMkLst>
        <pc:spChg chg="mod">
          <ac:chgData name="Novotny Vit" userId="385cc110-d84e-4402-a595-6881787047ed" providerId="ADAL" clId="{B21C557F-AC2B-4147-B774-E502E7ECCB2B}" dt="2026-05-21T09:52:59.437" v="507" actId="20577"/>
          <ac:spMkLst>
            <pc:docMk/>
            <pc:sldMk cId="1868382291" sldId="263"/>
            <ac:spMk id="2" creationId="{9E91DF6F-CD79-F48B-7296-BB2813A22554}"/>
          </ac:spMkLst>
        </pc:spChg>
        <pc:picChg chg="add mod">
          <ac:chgData name="Novotny Vit" userId="385cc110-d84e-4402-a595-6881787047ed" providerId="ADAL" clId="{B21C557F-AC2B-4147-B774-E502E7ECCB2B}" dt="2026-05-21T09:54:16.166" v="537" actId="1037"/>
          <ac:picMkLst>
            <pc:docMk/>
            <pc:sldMk cId="1868382291" sldId="263"/>
            <ac:picMk id="5" creationId="{B2A013A9-17B1-EA03-E5AB-B143171ACFE8}"/>
          </ac:picMkLst>
        </pc:picChg>
        <pc:picChg chg="add mod">
          <ac:chgData name="Novotny Vit" userId="385cc110-d84e-4402-a595-6881787047ed" providerId="ADAL" clId="{B21C557F-AC2B-4147-B774-E502E7ECCB2B}" dt="2026-05-21T09:54:20.883" v="562" actId="1038"/>
          <ac:picMkLst>
            <pc:docMk/>
            <pc:sldMk cId="1868382291" sldId="263"/>
            <ac:picMk id="7" creationId="{37FA6BC1-85CA-D14F-B68B-77954D5CFC21}"/>
          </ac:picMkLst>
        </pc:picChg>
      </pc:sldChg>
      <pc:sldChg chg="addSp delSp modSp new mod">
        <pc:chgData name="Novotny Vit" userId="385cc110-d84e-4402-a595-6881787047ed" providerId="ADAL" clId="{B21C557F-AC2B-4147-B774-E502E7ECCB2B}" dt="2026-05-21T09:55:11.305" v="567" actId="1076"/>
        <pc:sldMkLst>
          <pc:docMk/>
          <pc:sldMk cId="533023552" sldId="264"/>
        </pc:sldMkLst>
        <pc:spChg chg="add del">
          <ac:chgData name="Novotny Vit" userId="385cc110-d84e-4402-a595-6881787047ed" providerId="ADAL" clId="{B21C557F-AC2B-4147-B774-E502E7ECCB2B}" dt="2026-05-21T09:55:04.944" v="565" actId="22"/>
          <ac:spMkLst>
            <pc:docMk/>
            <pc:sldMk cId="533023552" sldId="264"/>
            <ac:spMk id="5" creationId="{23745913-7968-D2F5-C4C1-74F6CA3717FD}"/>
          </ac:spMkLst>
        </pc:spChg>
        <pc:picChg chg="add mod">
          <ac:chgData name="Novotny Vit" userId="385cc110-d84e-4402-a595-6881787047ed" providerId="ADAL" clId="{B21C557F-AC2B-4147-B774-E502E7ECCB2B}" dt="2026-05-21T09:55:11.305" v="567" actId="1076"/>
          <ac:picMkLst>
            <pc:docMk/>
            <pc:sldMk cId="533023552" sldId="264"/>
            <ac:picMk id="7" creationId="{99D85FEA-6CCC-BD42-2ADC-3A0B0DC4AA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696E-F129-7B39-8FC4-72A9D3D20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4B544-FB72-B7F6-DA62-15121A7AA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D9701-2F68-871A-B8DF-C2A2DA7E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740EF-4F1D-42E6-12F6-36CE1C43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2D3A1-03A4-A002-D02F-FD44068A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35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5D66-3D4E-B2CF-63D6-2D48C07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054A1-8C24-711A-440D-1DD9ECE0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1D3D8-C366-75FA-C0AA-0F59280F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B1D0-6D82-8BCE-1C13-3C5ECC20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FA7A7-58E1-497E-B1D5-D1CAA81F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81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2DEF-9AE6-459A-2A7F-2D1A54D5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E808F-82F6-3F34-045D-26990F76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C912D-A264-5F20-9940-15235BB4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1F62-32C2-C0B6-7BC8-AEB42EBA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50E2-5CE8-884A-221B-490E9773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82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342C-2380-7169-1073-37B3FAA9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47612-19CE-A80A-71E3-8393FD8A5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79DE1-BA0A-6BCD-D0D4-B39DD7D5F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B3E02-4B2D-0BD4-AFD0-A3D9ECF5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F6EFC-F183-F67D-3791-A1D7DC84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00CCE-44E8-1E1A-C14F-4F0EDAAF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15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837B-8449-88C1-FD6D-CD7AF8DC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FB415-5E06-04B0-35B9-EFC92475E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41911-7092-DEF4-8483-0D4BD1138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C9D4C-3DEB-C565-07C4-93E6ACFFA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1453C-21EA-4F9F-7736-C3DAB45BB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B5949D-11BD-10B2-75F6-B7B57DB0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EFF1F-E69D-3735-6CA0-668556E2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79894-2FDD-BC97-29E2-CFD82E7C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6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AFBE-E02D-8817-121D-728EE7A5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A21F0-93B1-29A9-9F51-78ABDFFA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6982A-0444-6B2F-6B67-7A4E3B74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91063-F3AB-3C54-BAB3-34490CD2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08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364E1-8586-7DA0-F917-90E610A5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3B4B6-7DA2-0BD1-6432-FCFBE132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89719-60CE-2BD8-7E8B-F1516074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47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1A05-CA5D-27ED-B702-767B64D4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9E5D-092C-C2B8-63BE-F515E7508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94CCD-9F95-DB6F-778D-836C2A2C5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BC710-8E8D-4D88-F973-BBE30871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1CF42-D846-5A9F-F928-7C032E47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62404-E930-FEBD-3BA0-0C51D7E6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71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B2FC-4F59-DD5E-BB30-8233BC94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DDD11-95C3-C8FE-7ECD-713F998B6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13E77-ED72-AD1B-1EA9-4C9ECB1D1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27606-CC3A-7373-4954-76F25185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F91AF-4AED-5D91-F182-57F266A7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4D803-004E-25E0-BA2E-3C7ACBBC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71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6F90-E697-5C7F-A1ED-0544D515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BE221-5F1D-1AF1-D42E-C98FD4D55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B215D-5D79-3E3F-4D5A-1CCF6F4F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6C5C8-9BD3-A193-0EA4-29AECD4C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5657-9F57-5D10-A055-7C829D04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98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85F53-A2EE-ED19-D82B-F9B981637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8E05C-6606-C744-C640-E35D96BA4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9A59-584F-37B3-B69C-F4E52533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B64A6-C9B1-D475-5727-370B45C2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F1265-C342-2F0F-B0AA-B66A0275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5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0AB24-357A-4316-72DE-0B713F15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0A1C0-634F-9163-C185-330A7A191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4F285-44C7-40B1-622B-F9EF09868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C301D-1E4E-4B7C-9C1D-F7FA134A3317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93915-8EC1-A673-A472-9BD009E0A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341D7-3DD4-92D4-5A72-74A7AFC37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2AAB6-A4F6-465C-8A49-0D69EA7808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18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4AE36-8B4D-6712-88C9-76BCA061F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Identifikace inhibitorů </a:t>
            </a:r>
            <a:br>
              <a:rPr lang="cs-CZ" dirty="0"/>
            </a:br>
            <a:r>
              <a:rPr lang="cs-CZ" dirty="0"/>
              <a:t>DAT v komerční knihovně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685A2-5CB0-5D52-E4F9-BD232EB3A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Vít Novotný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989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FAE4-BA69-49B7-33B2-731EEE61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138A9-0B4E-FADC-EDEB-C3F0A6ABC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Cíl: Najít nové inhibitory </a:t>
            </a:r>
            <a:r>
              <a:rPr lang="en-GB" dirty="0" err="1"/>
              <a:t>dopamin</a:t>
            </a:r>
            <a:r>
              <a:rPr lang="en-GB" dirty="0"/>
              <a:t> transporter</a:t>
            </a:r>
            <a:r>
              <a:rPr lang="cs-CZ" dirty="0"/>
              <a:t>u (DAT)</a:t>
            </a:r>
          </a:p>
          <a:p>
            <a:r>
              <a:rPr lang="cs-CZ" dirty="0"/>
              <a:t>DAT</a:t>
            </a:r>
          </a:p>
          <a:p>
            <a:pPr lvl="1"/>
            <a:r>
              <a:rPr lang="cs-CZ" dirty="0"/>
              <a:t>Odstraňuje dopamin ze synaptické štěrbiny.</a:t>
            </a:r>
          </a:p>
          <a:p>
            <a:pPr lvl="1"/>
            <a:r>
              <a:rPr lang="cs-CZ" dirty="0"/>
              <a:t>Jeho inhibitory – stimulanty</a:t>
            </a:r>
          </a:p>
          <a:p>
            <a:pPr lvl="2"/>
            <a:r>
              <a:rPr lang="cs-CZ" dirty="0"/>
              <a:t>Kokain</a:t>
            </a:r>
          </a:p>
          <a:p>
            <a:r>
              <a:rPr lang="cs-CZ" dirty="0"/>
              <a:t>Příprava dat</a:t>
            </a:r>
          </a:p>
          <a:p>
            <a:r>
              <a:rPr lang="cs-CZ" dirty="0"/>
              <a:t>Trénování modelu </a:t>
            </a:r>
          </a:p>
          <a:p>
            <a:r>
              <a:rPr lang="cs-CZ" dirty="0"/>
              <a:t>Výběr pravděpodobných inhibitorů z komerční databáze</a:t>
            </a:r>
          </a:p>
          <a:p>
            <a:pPr lvl="1"/>
            <a:endParaRPr lang="cs-CZ" dirty="0"/>
          </a:p>
          <a:p>
            <a:pPr lvl="2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523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99D7-644B-CA60-A984-C819D0D2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Příprava dat – známé inhibitory 	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2A13F-7DF6-C08D-E044-883E75720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ChEMBL</a:t>
            </a:r>
            <a:endParaRPr lang="cs-CZ" dirty="0"/>
          </a:p>
          <a:p>
            <a:r>
              <a:rPr lang="cs-CZ" dirty="0"/>
              <a:t>Standardizace  </a:t>
            </a:r>
          </a:p>
          <a:p>
            <a:pPr lvl="1"/>
            <a:r>
              <a:rPr lang="cs-CZ" dirty="0"/>
              <a:t>Disociace solí</a:t>
            </a:r>
          </a:p>
          <a:p>
            <a:pPr lvl="1"/>
            <a:r>
              <a:rPr lang="cs-CZ" dirty="0"/>
              <a:t>Neutralizace nábojů </a:t>
            </a:r>
          </a:p>
          <a:p>
            <a:pPr lvl="1"/>
            <a:r>
              <a:rPr lang="cs-CZ" dirty="0"/>
              <a:t>Standardizace tautomerů </a:t>
            </a:r>
          </a:p>
          <a:p>
            <a:pPr lvl="1"/>
            <a:r>
              <a:rPr lang="cs-CZ" dirty="0"/>
              <a:t>Odebrání informace o chiralitě </a:t>
            </a:r>
          </a:p>
          <a:p>
            <a:r>
              <a:rPr lang="cs-CZ" dirty="0"/>
              <a:t>Výběr látek s IC</a:t>
            </a:r>
            <a:r>
              <a:rPr lang="cs-CZ" baseline="-25000" dirty="0"/>
              <a:t>50</a:t>
            </a:r>
            <a:r>
              <a:rPr lang="cs-CZ" dirty="0"/>
              <a:t> &gt; 500 </a:t>
            </a:r>
            <a:r>
              <a:rPr lang="cs-CZ" dirty="0" err="1"/>
              <a:t>nM</a:t>
            </a:r>
            <a:r>
              <a:rPr lang="cs-CZ" dirty="0"/>
              <a:t> </a:t>
            </a:r>
          </a:p>
          <a:p>
            <a:r>
              <a:rPr lang="cs-CZ" dirty="0"/>
              <a:t>13000 -&gt; 2000 aktivních látek </a:t>
            </a:r>
            <a:endParaRPr lang="cs-CZ" baseline="-25000" dirty="0"/>
          </a:p>
        </p:txBody>
      </p:sp>
    </p:spTree>
    <p:extLst>
      <p:ext uri="{BB962C8B-B14F-4D97-AF65-F5344CB8AC3E}">
        <p14:creationId xmlns:p14="http://schemas.microsoft.com/office/powerpoint/2010/main" val="339291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6AD9-A5E6-6C80-CAB1-7AE0C563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Příprava dat – neaktivní látky 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2216-50ED-4D4E-B3F8-01107C233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DrugBank</a:t>
            </a:r>
            <a:endParaRPr lang="cs-CZ" dirty="0"/>
          </a:p>
          <a:p>
            <a:pPr lvl="1"/>
            <a:r>
              <a:rPr lang="cs-CZ" dirty="0"/>
              <a:t>Kdyby mělo léčivo jako vedlejší účinek inhibici DAT, není schváleno. </a:t>
            </a:r>
          </a:p>
          <a:p>
            <a:r>
              <a:rPr lang="cs-CZ" dirty="0"/>
              <a:t>Standardizace </a:t>
            </a:r>
          </a:p>
          <a:p>
            <a:r>
              <a:rPr lang="cs-CZ" dirty="0"/>
              <a:t>Odebrání molekul podobných schváleným inhibitorům DAT </a:t>
            </a:r>
          </a:p>
          <a:p>
            <a:pPr lvl="1"/>
            <a:r>
              <a:rPr lang="cs-CZ" dirty="0" err="1"/>
              <a:t>Tanimotova</a:t>
            </a:r>
            <a:r>
              <a:rPr lang="cs-CZ" dirty="0"/>
              <a:t> podobnost &gt; 0.5 </a:t>
            </a:r>
          </a:p>
          <a:p>
            <a:r>
              <a:rPr lang="cs-CZ" b="1" dirty="0"/>
              <a:t>Průnik zpracované </a:t>
            </a:r>
            <a:r>
              <a:rPr lang="cs-CZ" b="1" dirty="0" err="1"/>
              <a:t>DrugBank</a:t>
            </a:r>
            <a:r>
              <a:rPr lang="cs-CZ" b="1" dirty="0"/>
              <a:t> a </a:t>
            </a:r>
            <a:r>
              <a:rPr lang="cs-CZ" b="1" dirty="0" err="1"/>
              <a:t>ChEMBL</a:t>
            </a:r>
            <a:r>
              <a:rPr lang="cs-CZ" b="1" dirty="0"/>
              <a:t>: 82 molekul</a:t>
            </a:r>
          </a:p>
        </p:txBody>
      </p:sp>
    </p:spTree>
    <p:extLst>
      <p:ext uri="{BB962C8B-B14F-4D97-AF65-F5344CB8AC3E}">
        <p14:creationId xmlns:p14="http://schemas.microsoft.com/office/powerpoint/2010/main" val="380801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3374-5004-FAFD-26CB-BCF55A87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Komerční knihovna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A169-070A-D113-79AA-8C939CADF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Hit Locator Library</a:t>
            </a:r>
            <a:r>
              <a:rPr lang="cs-CZ" dirty="0"/>
              <a:t> (</a:t>
            </a:r>
            <a:r>
              <a:rPr lang="en-GB" dirty="0"/>
              <a:t>HLL-100</a:t>
            </a:r>
            <a:r>
              <a:rPr lang="cs-CZ" dirty="0"/>
              <a:t>), Enamine </a:t>
            </a:r>
          </a:p>
          <a:p>
            <a:r>
              <a:rPr lang="cs-CZ" dirty="0"/>
              <a:t>Standardizace </a:t>
            </a:r>
          </a:p>
          <a:p>
            <a:r>
              <a:rPr lang="cs-CZ" dirty="0"/>
              <a:t>Vyhodnocení podobnosti s trénovacími daty </a:t>
            </a:r>
          </a:p>
          <a:p>
            <a:pPr lvl="1"/>
            <a:r>
              <a:rPr lang="cs-CZ" dirty="0"/>
              <a:t>Průměrná </a:t>
            </a:r>
            <a:r>
              <a:rPr lang="cs-CZ" dirty="0" err="1"/>
              <a:t>Tanimotova</a:t>
            </a:r>
            <a:r>
              <a:rPr lang="cs-CZ" dirty="0"/>
              <a:t> podobnost s top 5 &gt; 0.25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656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CDEC-4327-1287-506F-3D50F560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Porovnání setů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800A-BE5D-4CA8-C201-6232DBB4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Scaffold</a:t>
            </a:r>
            <a:r>
              <a:rPr lang="cs-CZ" dirty="0"/>
              <a:t> </a:t>
            </a:r>
            <a:r>
              <a:rPr lang="cs-CZ" dirty="0" err="1"/>
              <a:t>methyekgoninu</a:t>
            </a:r>
            <a:r>
              <a:rPr lang="cs-CZ" dirty="0"/>
              <a:t> je víc zastoupený mezi aktivními látkami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EFFF1-8F73-BC23-4A62-D7D01D30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6" y="3317256"/>
            <a:ext cx="3677163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91AF7A-A764-4CFA-0D64-FDD820916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154" y="3139065"/>
            <a:ext cx="3124636" cy="2029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E01E54-3FA3-9205-B7C6-C0634CFA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55" y="3134752"/>
            <a:ext cx="332468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6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A8F2-B753-820E-6D79-BA041BBB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Trénování modelu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8111-5109-DFA5-C5A4-A9B312ED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Random</a:t>
            </a:r>
            <a:r>
              <a:rPr lang="cs-CZ" dirty="0"/>
              <a:t> </a:t>
            </a:r>
            <a:r>
              <a:rPr lang="cs-CZ" dirty="0" err="1"/>
              <a:t>forrest</a:t>
            </a:r>
            <a:r>
              <a:rPr lang="cs-CZ" dirty="0"/>
              <a:t> / </a:t>
            </a:r>
            <a:r>
              <a:rPr lang="cs-CZ" dirty="0" err="1"/>
              <a:t>XGBoost</a:t>
            </a:r>
            <a:r>
              <a:rPr lang="cs-CZ" dirty="0"/>
              <a:t> </a:t>
            </a:r>
          </a:p>
          <a:p>
            <a:r>
              <a:rPr lang="cs-CZ" dirty="0" err="1"/>
              <a:t>GridSearch</a:t>
            </a:r>
            <a:r>
              <a:rPr lang="cs-CZ" dirty="0"/>
              <a:t> / </a:t>
            </a:r>
            <a:r>
              <a:rPr lang="cs-CZ" dirty="0" err="1"/>
              <a:t>optuna</a:t>
            </a:r>
            <a:r>
              <a:rPr lang="cs-CZ" dirty="0"/>
              <a:t> </a:t>
            </a:r>
          </a:p>
          <a:p>
            <a:pPr lvl="1"/>
            <a:r>
              <a:rPr lang="cs-CZ" dirty="0" err="1"/>
              <a:t>Hyperparametry</a:t>
            </a:r>
            <a:r>
              <a:rPr lang="cs-CZ" dirty="0"/>
              <a:t> i reprezentace molekul </a:t>
            </a:r>
          </a:p>
          <a:p>
            <a:r>
              <a:rPr lang="cs-CZ" dirty="0"/>
              <a:t>Na testovacích datech:</a:t>
            </a:r>
          </a:p>
          <a:p>
            <a:pPr lvl="1"/>
            <a:r>
              <a:rPr lang="cs-CZ" dirty="0"/>
              <a:t>Oba modely dosáhly </a:t>
            </a:r>
            <a:r>
              <a:rPr lang="cs-CZ" dirty="0" err="1"/>
              <a:t>recall</a:t>
            </a:r>
            <a:r>
              <a:rPr lang="cs-CZ" dirty="0"/>
              <a:t> 0.63, </a:t>
            </a:r>
            <a:r>
              <a:rPr lang="cs-CZ" dirty="0" err="1"/>
              <a:t>enrichment</a:t>
            </a:r>
            <a:r>
              <a:rPr lang="cs-CZ" dirty="0"/>
              <a:t> 6.91</a:t>
            </a:r>
          </a:p>
          <a:p>
            <a:pPr marL="0" indent="0">
              <a:buNone/>
            </a:pPr>
            <a:r>
              <a:rPr lang="cs-CZ" dirty="0"/>
              <a:t>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056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DF6F-CD79-F48B-7296-BB2813A2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Koncenzus</a:t>
            </a:r>
            <a:r>
              <a:rPr lang="cs-CZ" dirty="0"/>
              <a:t> dvou modelů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AE56-8D08-7AC3-BD96-CD529D26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013A9-17B1-EA03-E5AB-B143171A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367" y="1825625"/>
            <a:ext cx="5891197" cy="4603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A6BC1-85CA-D14F-B68B-77954D5CF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813" y="1825625"/>
            <a:ext cx="6096845" cy="456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8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C5B9-BD60-1790-6B3A-6BD7A084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150F-9EF2-01C0-E3E7-2D2AB847B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85FEA-6CCC-BD42-2ADC-3A0B0DC4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42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2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Identifikace inhibitorů  DAT v komerční knihovně</vt:lpstr>
      <vt:lpstr>Úvod</vt:lpstr>
      <vt:lpstr>Příprava dat – známé inhibitory   </vt:lpstr>
      <vt:lpstr>Příprava dat – neaktivní látky  </vt:lpstr>
      <vt:lpstr>Komerční knihovna </vt:lpstr>
      <vt:lpstr>Porovnání setů </vt:lpstr>
      <vt:lpstr>Trénování modelu </vt:lpstr>
      <vt:lpstr>Koncenzus dvou modelů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Novotny Vit</dc:creator>
  <cp:lastModifiedBy>Novotny Vit</cp:lastModifiedBy>
  <cp:revision>1</cp:revision>
  <dcterms:created xsi:type="dcterms:W3CDTF">2026-05-21T07:24:20Z</dcterms:created>
  <dcterms:modified xsi:type="dcterms:W3CDTF">2026-05-21T09:55:17Z</dcterms:modified>
</cp:coreProperties>
</file>